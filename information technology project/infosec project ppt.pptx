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69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9" r:id="rId14"/>
    <p:sldId id="265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449036"/>
            <a:ext cx="8791575" cy="2669721"/>
          </a:xfrm>
        </p:spPr>
        <p:txBody>
          <a:bodyPr>
            <a:normAutofit/>
          </a:bodyPr>
          <a:lstStyle/>
          <a:p>
            <a:pPr algn="ctr"/>
            <a:r>
              <a:rPr lang="en-US" sz="5400" dirty="0" smtClean="0">
                <a:latin typeface="Rockwell" panose="02060603020205020403" pitchFamily="18" charset="0"/>
              </a:rPr>
              <a:t>Title:</a:t>
            </a:r>
            <a:r>
              <a:rPr lang="en-US" sz="3600" dirty="0" smtClean="0">
                <a:latin typeface="Rockwell" panose="02060603020205020403" pitchFamily="18" charset="0"/>
              </a:rPr>
              <a:t/>
            </a:r>
            <a:br>
              <a:rPr lang="en-US" sz="3600" dirty="0" smtClean="0">
                <a:latin typeface="Rockwell" panose="02060603020205020403" pitchFamily="18" charset="0"/>
              </a:rPr>
            </a:br>
            <a:r>
              <a:rPr lang="en-US" sz="3600" b="1" dirty="0" smtClean="0"/>
              <a:t>SQL </a:t>
            </a:r>
            <a:r>
              <a:rPr lang="en-US" sz="3600" b="1" dirty="0"/>
              <a:t>Injection Attacks and Their Prevention in Web Applications</a:t>
            </a:r>
            <a:endParaRPr lang="en-US" sz="3600" dirty="0">
              <a:latin typeface="Rockwell" panose="020606030202050204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3659188"/>
            <a:ext cx="6042933" cy="2676298"/>
          </a:xfrm>
        </p:spPr>
        <p:txBody>
          <a:bodyPr>
            <a:normAutofit/>
          </a:bodyPr>
          <a:lstStyle/>
          <a:p>
            <a:pPr algn="ctr"/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 : Fatima </a:t>
            </a:r>
            <a:r>
              <a:rPr lang="en-US" sz="24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ramzan</a:t>
            </a:r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Roll no : BITF24A029</a:t>
            </a:r>
          </a:p>
          <a:p>
            <a:pPr algn="ctr"/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SECTION: AFTERNOON</a:t>
            </a:r>
          </a:p>
          <a:p>
            <a:pPr algn="ctr"/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SUBJECT: INFORMATION SECURITY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5332866" cy="1953232"/>
          </a:xfrm>
        </p:spPr>
        <p:txBody>
          <a:bodyPr>
            <a:normAutofit/>
          </a:bodyPr>
          <a:lstStyle/>
          <a:p>
            <a:pPr algn="ctr"/>
            <a:r>
              <a:rPr lang="en-US" sz="4400" u="sng" dirty="0" smtClean="0"/>
              <a:t>INTRODUCTION</a:t>
            </a:r>
            <a:endParaRPr lang="en-US" sz="4400" u="sng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557789" y="1929999"/>
            <a:ext cx="8027081" cy="2655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Web applications store sensitive data in databases.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Poor input validation can lead to SQL Injection attacks.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Attackers manipulate SQL queries using user input.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This project shows attack and prevention techniques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53689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6206444" cy="1478570"/>
          </a:xfrm>
        </p:spPr>
        <p:txBody>
          <a:bodyPr>
            <a:normAutofit/>
          </a:bodyPr>
          <a:lstStyle/>
          <a:p>
            <a:pPr algn="r"/>
            <a:r>
              <a:rPr lang="en-US" sz="4400" b="1" u="sng" dirty="0"/>
              <a:t>Problem Statement</a:t>
            </a:r>
            <a:endParaRPr lang="en-US" sz="4400" b="1" u="sng" dirty="0">
              <a:latin typeface="Rockwell" panose="02060603020205020403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39199" y="2168045"/>
            <a:ext cx="8436797" cy="3508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Many web applications are insecure due to weak input validation.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SQL Injection allows attackers to: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Bypass login systems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Access confidential data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Modify or delete database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72179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u="sng" dirty="0"/>
              <a:t>What is SQL Injection</a:t>
            </a:r>
            <a:r>
              <a:rPr lang="en-US" sz="4400" dirty="0"/>
              <a:t>?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2338842"/>
          </a:xfrm>
        </p:spPr>
        <p:txBody>
          <a:bodyPr/>
          <a:lstStyle/>
          <a:p>
            <a:pPr algn="just"/>
            <a:r>
              <a:rPr lang="en-US" dirty="0"/>
              <a:t>SQL Injection is a web security vulnerability. </a:t>
            </a:r>
          </a:p>
          <a:p>
            <a:pPr algn="just"/>
            <a:r>
              <a:rPr lang="en-US" dirty="0"/>
              <a:t>It occurs when attackers insert malicious SQL code. </a:t>
            </a:r>
          </a:p>
          <a:p>
            <a:pPr algn="just"/>
            <a:r>
              <a:rPr lang="en-US" dirty="0"/>
              <a:t>It changes the behavior of database queries. </a:t>
            </a:r>
          </a:p>
          <a:p>
            <a:pPr algn="just"/>
            <a:r>
              <a:rPr lang="en-US" dirty="0"/>
              <a:t>It is one of the most dangerous web attacks. </a:t>
            </a:r>
          </a:p>
        </p:txBody>
      </p:sp>
    </p:spTree>
    <p:extLst>
      <p:ext uri="{BB962C8B-B14F-4D97-AF65-F5344CB8AC3E}">
        <p14:creationId xmlns:p14="http://schemas.microsoft.com/office/powerpoint/2010/main" val="1193417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649" y="561367"/>
            <a:ext cx="8369980" cy="1478570"/>
          </a:xfrm>
        </p:spPr>
        <p:txBody>
          <a:bodyPr>
            <a:normAutofit/>
          </a:bodyPr>
          <a:lstStyle/>
          <a:p>
            <a:pPr algn="ctr"/>
            <a:r>
              <a:rPr lang="en-US" sz="4400" b="1" u="sng" dirty="0"/>
              <a:t>How SQL Injection Works</a:t>
            </a:r>
            <a:endParaRPr lang="en-US" sz="4400" b="1" u="sng" dirty="0">
              <a:latin typeface="Rockwell" panose="02060603020205020403" pitchFamily="18" charset="0"/>
            </a:endParaRPr>
          </a:p>
        </p:txBody>
      </p:sp>
      <p:sp>
        <p:nvSpPr>
          <p:cNvPr id="5" name="Rectangle 1"/>
          <p:cNvSpPr>
            <a:spLocks noGrp="1" noChangeArrowheads="1"/>
          </p:cNvSpPr>
          <p:nvPr>
            <p:ph sz="half" idx="1"/>
          </p:nvPr>
        </p:nvSpPr>
        <p:spPr bwMode="auto">
          <a:xfrm>
            <a:off x="1337355" y="2206751"/>
            <a:ext cx="8329159" cy="2516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User input is directly included in SQL query.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Attacker modifies input to change query logic.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Database executes unintended commands.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Leads to unauthorized access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98410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610951" cy="1234775"/>
          </a:xfrm>
        </p:spPr>
        <p:txBody>
          <a:bodyPr>
            <a:normAutofit/>
          </a:bodyPr>
          <a:lstStyle/>
          <a:p>
            <a:r>
              <a:rPr lang="en-US" sz="4400" b="1" u="sng" dirty="0"/>
              <a:t>Attack Example (Demo Input)</a:t>
            </a:r>
            <a:endParaRPr lang="en-US" sz="4400" b="1" u="sng" dirty="0">
              <a:latin typeface="Rockwell" panose="02060603020205020403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048" y="2849336"/>
            <a:ext cx="5062829" cy="3098643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2441" y="3268924"/>
            <a:ext cx="4914851" cy="1438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318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SELECT * FROM users WHERE username='$user' AND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password</a:t>
            </a:r>
          </a:p>
          <a:p>
            <a:pPr marL="457200" lvl="1" indent="0">
              <a:buNone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='$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pass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';</a:t>
            </a:r>
          </a:p>
          <a:p>
            <a:r>
              <a:rPr lang="en-US" dirty="0"/>
              <a:t>Direct insertion of user input </a:t>
            </a:r>
          </a:p>
          <a:p>
            <a:r>
              <a:rPr lang="en-US" dirty="0"/>
              <a:t>No validation or sanitization </a:t>
            </a:r>
          </a:p>
          <a:p>
            <a:r>
              <a:rPr lang="en-US" dirty="0"/>
              <a:t>Highly insecure </a:t>
            </a:r>
          </a:p>
          <a:p>
            <a:pPr marL="457200" lvl="1" indent="0"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1588" y="824389"/>
            <a:ext cx="4961615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Vulnerable SQL Query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19556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u="sng" dirty="0"/>
              <a:t>Impact of SQL Injection</a:t>
            </a:r>
            <a:endParaRPr lang="en-US" sz="4400" b="1" u="sng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Unauthorized login access </a:t>
            </a:r>
          </a:p>
          <a:p>
            <a:r>
              <a:rPr lang="en-US" dirty="0"/>
              <a:t>Data theft </a:t>
            </a:r>
          </a:p>
          <a:p>
            <a:r>
              <a:rPr lang="en-US" dirty="0"/>
              <a:t>Database modification or deletion </a:t>
            </a:r>
          </a:p>
          <a:p>
            <a:r>
              <a:rPr lang="en-US" dirty="0"/>
              <a:t>Complete system compromise </a:t>
            </a:r>
          </a:p>
          <a:p>
            <a:pPr lvl="0"/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613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Prevention Techniques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506601" y="1655173"/>
            <a:ext cx="7645563" cy="2885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Prepared Statements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Parameterized Queries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Input Validation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Least</a:t>
            </a:r>
            <a:r>
              <a:rPr kumimoji="0" lang="en-US" altLang="en-US" sz="2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Privilege Principle </a:t>
            </a:r>
          </a:p>
        </p:txBody>
      </p:sp>
    </p:spTree>
    <p:extLst>
      <p:ext uri="{BB962C8B-B14F-4D97-AF65-F5344CB8AC3E}">
        <p14:creationId xmlns:p14="http://schemas.microsoft.com/office/powerpoint/2010/main" val="136666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Secure example</a:t>
            </a:r>
            <a:endParaRPr lang="en-US" b="1" u="sng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3" y="2209613"/>
            <a:ext cx="4826000" cy="3200773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355" y="2277837"/>
            <a:ext cx="5753903" cy="313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339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9714" y="324603"/>
            <a:ext cx="8196943" cy="1478570"/>
          </a:xfrm>
        </p:spPr>
        <p:txBody>
          <a:bodyPr/>
          <a:lstStyle/>
          <a:p>
            <a:r>
              <a:rPr lang="en-US" b="1" u="sng" dirty="0"/>
              <a:t>Secure Code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019" y="2476159"/>
            <a:ext cx="9905999" cy="3879170"/>
          </a:xfrm>
        </p:spPr>
        <p:txBody>
          <a:bodyPr anchor="ctr"/>
          <a:lstStyle/>
          <a:p>
            <a:pPr marL="0" indent="0">
              <a:buNone/>
            </a:pPr>
            <a:r>
              <a:rPr lang="en-US" dirty="0"/>
              <a:t>$</a:t>
            </a:r>
            <a:r>
              <a:rPr lang="en-US" dirty="0" err="1"/>
              <a:t>stmt</a:t>
            </a:r>
            <a:r>
              <a:rPr lang="en-US" dirty="0"/>
              <a:t> = $conn-&gt;prepare("SELECT * FROM users WHERE username=? AND password=?");</a:t>
            </a:r>
          </a:p>
          <a:p>
            <a:pPr marL="0" indent="0">
              <a:buNone/>
            </a:pPr>
            <a:r>
              <a:rPr lang="en-US" dirty="0"/>
              <a:t>$</a:t>
            </a:r>
            <a:r>
              <a:rPr lang="en-US" dirty="0" err="1"/>
              <a:t>stmt</a:t>
            </a:r>
            <a:r>
              <a:rPr lang="en-US" dirty="0"/>
              <a:t>-&gt;</a:t>
            </a:r>
            <a:r>
              <a:rPr lang="en-US" dirty="0" err="1"/>
              <a:t>bind_param</a:t>
            </a:r>
            <a:r>
              <a:rPr lang="en-US" dirty="0"/>
              <a:t>("</a:t>
            </a:r>
            <a:r>
              <a:rPr lang="en-US" dirty="0" err="1"/>
              <a:t>ss</a:t>
            </a:r>
            <a:r>
              <a:rPr lang="en-US" dirty="0"/>
              <a:t>", $user, $pass);</a:t>
            </a:r>
            <a:endParaRPr lang="en-US" dirty="0" smtClean="0"/>
          </a:p>
          <a:p>
            <a:r>
              <a:rPr lang="en-US" dirty="0" smtClean="0"/>
              <a:t>Input treated as data only</a:t>
            </a:r>
          </a:p>
          <a:p>
            <a:r>
              <a:rPr lang="en-US" dirty="0" smtClean="0"/>
              <a:t>Prevent query manipulation</a:t>
            </a:r>
          </a:p>
          <a:p>
            <a:r>
              <a:rPr lang="en-US" dirty="0" smtClean="0"/>
              <a:t>Secure against </a:t>
            </a:r>
            <a:r>
              <a:rPr lang="en-US" dirty="0" err="1" smtClean="0"/>
              <a:t>sql</a:t>
            </a:r>
            <a:r>
              <a:rPr lang="en-US" dirty="0" smtClean="0"/>
              <a:t> injection 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903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4000" b="1" u="sng" dirty="0"/>
              <a:t>Working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45469" y="2097088"/>
            <a:ext cx="659090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Vulnerable system allows attack using special input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Secure system blocks malicious input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Demonstration shows difference clearly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Both versions tested in project </a:t>
            </a:r>
          </a:p>
        </p:txBody>
      </p:sp>
    </p:spTree>
    <p:extLst>
      <p:ext uri="{BB962C8B-B14F-4D97-AF65-F5344CB8AC3E}">
        <p14:creationId xmlns:p14="http://schemas.microsoft.com/office/powerpoint/2010/main" val="2861883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4000" b="1" u="sng" dirty="0" smtClean="0"/>
              <a:t>conclusion</a:t>
            </a:r>
            <a:endParaRPr lang="en-US" sz="4000" b="1" u="sng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31219" y="2213247"/>
            <a:ext cx="5532540" cy="2618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SQL Injection is a serious security threat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It occurs due to unsafe coding practices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Secure coding prevents attacks effectively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Prepared statements are the best solution </a:t>
            </a:r>
          </a:p>
        </p:txBody>
      </p:sp>
    </p:spTree>
    <p:extLst>
      <p:ext uri="{BB962C8B-B14F-4D97-AF65-F5344CB8AC3E}">
        <p14:creationId xmlns:p14="http://schemas.microsoft.com/office/powerpoint/2010/main" val="3119201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4810732"/>
          </a:xfrm>
        </p:spPr>
        <p:txBody>
          <a:bodyPr/>
          <a:lstStyle/>
          <a:p>
            <a:pPr algn="ctr"/>
            <a:r>
              <a:rPr lang="en-US" dirty="0" smtClean="0"/>
              <a:t>Thank you</a:t>
            </a:r>
            <a:endParaRPr lang="en-US" dirty="0"/>
          </a:p>
        </p:txBody>
      </p:sp>
      <p:pic>
        <p:nvPicPr>
          <p:cNvPr id="4" name="Picture 3" descr="Printable Thank You Cards To Colorthank You Cards To Print And Colo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9286" y="1235906"/>
            <a:ext cx="6811347" cy="330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6617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7815013_Problem-solution cycle_RVA_v3" id="{20834410-FC37-46AC-ACB7-FB202F8C4BA9}" vid="{1ED24379-BFF7-4E2F-B7EC-A47C906E21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866CFD-F94E-4AE5-ACEA-86FEC0F48A10}">
  <ds:schemaRefs>
    <ds:schemaRef ds:uri="http://purl.org/dc/terms/"/>
    <ds:schemaRef ds:uri="71af3243-3dd4-4a8d-8c0d-dd76da1f02a5"/>
    <ds:schemaRef ds:uri="16c05727-aa75-4e4a-9b5f-8a80a1165891"/>
    <ds:schemaRef ds:uri="http://purl.org/dc/dcmitype/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C0B241-13E5-418D-8920-D23491E2D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Problemsolution cycle </Template>
  <TotalTime>0</TotalTime>
  <Words>322</Words>
  <Application>Microsoft Office PowerPoint</Application>
  <PresentationFormat>Widescreen</PresentationFormat>
  <Paragraphs>68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Rockwell</vt:lpstr>
      <vt:lpstr>Tahoma</vt:lpstr>
      <vt:lpstr>Trebuchet MS</vt:lpstr>
      <vt:lpstr>Tw Cen MT</vt:lpstr>
      <vt:lpstr>Circuit</vt:lpstr>
      <vt:lpstr>Title: SQL Injection Attacks and Their Prevention in Web Applications</vt:lpstr>
      <vt:lpstr>INTRODUCTION</vt:lpstr>
      <vt:lpstr>Problem Statement</vt:lpstr>
      <vt:lpstr>What is SQL Injection?</vt:lpstr>
      <vt:lpstr>How SQL Injection Works</vt:lpstr>
      <vt:lpstr>Attack Example (Demo Input)</vt:lpstr>
      <vt:lpstr>Vulnerable SQL Query </vt:lpstr>
      <vt:lpstr>Impact of SQL Injection</vt:lpstr>
      <vt:lpstr>Prevention Techniques</vt:lpstr>
      <vt:lpstr>Secure example</vt:lpstr>
      <vt:lpstr>Secure Code Example</vt:lpstr>
      <vt:lpstr>Working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2026-04-19T13:52:44Z</dcterms:created>
  <dcterms:modified xsi:type="dcterms:W3CDTF">2026-04-19T14:42:21Z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